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42F5-D6B5-6D4D-9DF6-5815B8560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89320-748B-5B4F-8AD7-3AACB5E99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E6470-32A7-C14D-8375-47B6E193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64DD3-A738-FF49-8E71-F4F3C7F0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01994-C56B-274A-BFE8-30964D92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6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F551-4D20-C24C-AEB5-49D9284A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B465-4FC2-E94A-8E06-2685A0275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D51C1-33F7-B744-84D7-BD767A6B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0C571-E837-B941-A0FF-FB488ADB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83D54-AECA-A949-A40E-B451396F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D179-CBAF-3C4A-89C8-4309AB2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C6511-9C7E-FD44-93E1-1C5C49556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DBDE-9926-5741-A1EF-CDE727A9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272A2-62F7-A945-A5E1-61C3FE1C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E8DF6-A8B5-3147-AE5E-FE480479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0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C55E-93B8-9440-98D7-5441DFE6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A03A9-39CB-CF43-A105-E473CDD23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A8BAE-CCFC-3840-A72E-FF8B6A01C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B786E-3B88-F84D-BAA9-9F567AB3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68E5D-396A-EB4E-87B5-85DDD4781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75560-8DF6-124D-BE4E-9E03CB11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4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569F-6E63-CF4E-9F19-5E0DC0DE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DCDF0-3339-E54F-AFF4-D166531DC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D0973-9EA3-5C46-B16F-CABA2F5F0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558A1-EAB6-5746-8E8D-32D0D747E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76EE3-8C37-4D4D-9E6F-6E8F17EA2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312B7-876B-A548-B65A-656E6A0B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F9467-24A5-3E49-AEDB-06028A81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3FF04-6850-7046-86FF-AB42D718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0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2249C-C109-2E49-842F-2FB76399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68F6A-6329-2241-B3C5-5F057FE4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360AF-AE59-884E-B139-88CE7B95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6FB97-B176-EA41-BD35-35582FB1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2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D5DBE-7270-BF4D-8EE2-3635EA89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43904-9B9F-DB48-9DE3-781C91A70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2CCB0-AFCB-724A-8AE7-3CC1AB81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8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3029-CB8A-844B-B25D-95B62B8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BB4A-292E-8F4B-AE21-40ACEE33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51338-2BD4-0647-BDEA-32E1FB252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6A059-0240-434A-85AE-6CC25DA64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D32B8-0C9A-6A44-BACF-EE25C794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9A28-0871-864B-8190-B5C84E41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6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04-FE16-7B44-A33F-05D64C09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2FC80-8F50-714A-B7C8-2E19A5BC1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D4A64-E53C-0041-81D5-7CE63ED79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D2718-E8F4-6D43-9465-899FCEA2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5ABC3-DEE6-3C40-A27C-B1D9AA79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A8169-1259-6743-BDCA-706DEC9A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6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DED1-0F45-FA4A-9239-E0C2E66A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51220-8DC4-6A4F-9F11-12432CEFD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81B48-9F5A-A849-870D-98E26E44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09A42-0FF4-5B41-8AF4-D0F1239B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558D-AFCB-DC41-A049-9B09B6DB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7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232C4-6CCA-8D46-97EF-DD334C6FF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21BE2-F0F4-634B-9443-BF888B12F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233B9-BA60-8D41-ADB7-06C21DC8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49DF1-51B4-3648-9F69-737F174D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AAF50-389C-F746-8BCB-EC292CB9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7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65E3-B031-2D48-B4EE-162B0015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373EE-906A-9F48-9E12-82CBA345E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BBBD6-73D9-4E42-973F-D6D4550CB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4F89E-3EB7-144D-9847-7CDA15B1607A}" type="datetimeFigureOut">
              <a:rPr lang="en-US" smtClean="0"/>
              <a:t>12/10/20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59C09-B106-5949-9F51-38947A8FC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8A67-5131-5747-921A-C927B28CB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A335F-51B5-2446-870D-FA54CA8C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2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6A3CA5-E877-794C-9206-8133A4CD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 4a.1 (control) at t=30</a:t>
            </a:r>
          </a:p>
        </p:txBody>
      </p:sp>
      <p:pic>
        <p:nvPicPr>
          <p:cNvPr id="6" name="Content Placeholder 5" descr="A picture containing icon&#10;&#10;Description automatically generated">
            <a:extLst>
              <a:ext uri="{FF2B5EF4-FFF2-40B4-BE49-F238E27FC236}">
                <a16:creationId xmlns:a16="http://schemas.microsoft.com/office/drawing/2014/main" id="{C2A33EBD-8A7A-CD4D-B9DE-2D0A284CC3B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14" y="1600200"/>
            <a:ext cx="5486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860FD-00BD-974A-BA38-7620DB0D4D74}"/>
              </a:ext>
            </a:extLst>
          </p:cNvPr>
          <p:cNvPicPr/>
          <p:nvPr/>
        </p:nvPicPr>
        <p:blipFill>
          <a:blip r:embed="rId3"/>
          <a:srcRect/>
          <a:stretch/>
        </p:blipFill>
        <p:spPr>
          <a:xfrm>
            <a:off x="3581400" y="1600200"/>
            <a:ext cx="5486400" cy="3657600"/>
          </a:xfrm>
          <a:prstGeom prst="rect">
            <a:avLst/>
          </a:prstGeom>
        </p:spPr>
      </p:pic>
      <p:pic>
        <p:nvPicPr>
          <p:cNvPr id="8" name="Picture 7" descr="A picture containing square&#10;&#10;Description automatically generated">
            <a:extLst>
              <a:ext uri="{FF2B5EF4-FFF2-40B4-BE49-F238E27FC236}">
                <a16:creationId xmlns:a16="http://schemas.microsoft.com/office/drawing/2014/main" id="{4EB7507E-30E2-C143-AF0F-0ADB56B5E60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914" y="16002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0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6A3CA5-E877-794C-9206-8133A4CD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 4a.1 (</a:t>
            </a:r>
            <a:r>
              <a:rPr lang="en-US" dirty="0" err="1"/>
              <a:t>HEcad-Pcad</a:t>
            </a:r>
            <a:r>
              <a:rPr lang="en-US" dirty="0"/>
              <a:t>) at t=30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A33EBD-8A7A-CD4D-B9DE-2D0A284CC3B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116114" y="1600200"/>
            <a:ext cx="5486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860FD-00BD-974A-BA38-7620DB0D4D74}"/>
              </a:ext>
            </a:extLst>
          </p:cNvPr>
          <p:cNvPicPr/>
          <p:nvPr/>
        </p:nvPicPr>
        <p:blipFill>
          <a:blip r:embed="rId3"/>
          <a:srcRect/>
          <a:stretch/>
        </p:blipFill>
        <p:spPr>
          <a:xfrm>
            <a:off x="3581400" y="1600200"/>
            <a:ext cx="548640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B7507E-30E2-C143-AF0F-0ADB56B5E601}"/>
              </a:ext>
            </a:extLst>
          </p:cNvPr>
          <p:cNvPicPr/>
          <p:nvPr/>
        </p:nvPicPr>
        <p:blipFill>
          <a:blip r:embed="rId4"/>
          <a:srcRect/>
          <a:stretch/>
        </p:blipFill>
        <p:spPr>
          <a:xfrm>
            <a:off x="7278914" y="16002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7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6A3CA5-E877-794C-9206-8133A4CD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 4a.2 (</a:t>
            </a:r>
            <a:r>
              <a:rPr lang="en-US" dirty="0" err="1"/>
              <a:t>HEcad-C.Pcad</a:t>
            </a:r>
            <a:r>
              <a:rPr lang="en-US" dirty="0"/>
              <a:t>) at t=32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A33EBD-8A7A-CD4D-B9DE-2D0A284CC3B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116114" y="1600200"/>
            <a:ext cx="5486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860FD-00BD-974A-BA38-7620DB0D4D74}"/>
              </a:ext>
            </a:extLst>
          </p:cNvPr>
          <p:cNvPicPr/>
          <p:nvPr/>
        </p:nvPicPr>
        <p:blipFill>
          <a:blip r:embed="rId3"/>
          <a:srcRect/>
          <a:stretch/>
        </p:blipFill>
        <p:spPr>
          <a:xfrm>
            <a:off x="3581400" y="1600200"/>
            <a:ext cx="548640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B7507E-30E2-C143-AF0F-0ADB56B5E601}"/>
              </a:ext>
            </a:extLst>
          </p:cNvPr>
          <p:cNvPicPr/>
          <p:nvPr/>
        </p:nvPicPr>
        <p:blipFill>
          <a:blip r:embed="rId4"/>
          <a:srcRect/>
          <a:stretch/>
        </p:blipFill>
        <p:spPr>
          <a:xfrm>
            <a:off x="7278914" y="16002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6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A7DA-3709-FA47-9AFF-BAFBB7D9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Layer (Ecad) at t=24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166B99-91E3-DF4E-8AA7-0BFCC49E3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592" y="1576944"/>
            <a:ext cx="4284164" cy="2856109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EB9814-A6C5-0B49-94B3-C2078C723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35" y="4070195"/>
            <a:ext cx="3948079" cy="2632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DEA608-C5FE-1A41-8739-2CFC85C65E1E}"/>
              </a:ext>
            </a:extLst>
          </p:cNvPr>
          <p:cNvSpPr txBox="1"/>
          <p:nvPr/>
        </p:nvSpPr>
        <p:spPr>
          <a:xfrm>
            <a:off x="1547870" y="1392278"/>
            <a:ext cx="1791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(GG = 25)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A33351-D168-DB42-A22C-076827BD85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48671" y="1505991"/>
            <a:ext cx="4284163" cy="28561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AD281A-E259-6345-836E-49A1902126CB}"/>
              </a:ext>
            </a:extLst>
          </p:cNvPr>
          <p:cNvSpPr txBox="1"/>
          <p:nvPr/>
        </p:nvSpPr>
        <p:spPr>
          <a:xfrm>
            <a:off x="4914454" y="1356817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plus 5% GG adhesion (23.75)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12C955-70F0-AD4E-8180-E58B62D929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16713" y="4070195"/>
            <a:ext cx="3948079" cy="26320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43A09D-474A-FE4A-8B6B-55BB0C6454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18163" y="4070194"/>
            <a:ext cx="3948079" cy="26320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52167E-F147-1A45-848D-BDBB49E3B0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50121" y="1392278"/>
            <a:ext cx="4284163" cy="28561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CB9940D-AD7D-2642-8151-859E391BACF4}"/>
              </a:ext>
            </a:extLst>
          </p:cNvPr>
          <p:cNvSpPr txBox="1"/>
          <p:nvPr/>
        </p:nvSpPr>
        <p:spPr>
          <a:xfrm>
            <a:off x="8845540" y="1247002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minus 5% GG adhesion (26.25)</a:t>
            </a:r>
          </a:p>
        </p:txBody>
      </p:sp>
    </p:spTree>
    <p:extLst>
      <p:ext uri="{BB962C8B-B14F-4D97-AF65-F5344CB8AC3E}">
        <p14:creationId xmlns:p14="http://schemas.microsoft.com/office/powerpoint/2010/main" val="298143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1081-8E54-154C-B11A-CEE55CC0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Layer (</a:t>
            </a:r>
            <a:r>
              <a:rPr lang="en-US" dirty="0" err="1"/>
              <a:t>Ncad</a:t>
            </a:r>
            <a:r>
              <a:rPr lang="en-US" dirty="0"/>
              <a:t>) at t=24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422B8F-D9F5-1445-BD6F-9F96C5F14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36000" y="1451978"/>
            <a:ext cx="4414909" cy="294327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AEABD6-2C10-7C4F-90F2-2528815D0810}"/>
              </a:ext>
            </a:extLst>
          </p:cNvPr>
          <p:cNvSpPr txBox="1"/>
          <p:nvPr/>
        </p:nvSpPr>
        <p:spPr>
          <a:xfrm>
            <a:off x="1549642" y="1327278"/>
            <a:ext cx="1791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(GG = 35)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78FCF4-15DC-1547-8683-570A0C072C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8545" y="1451978"/>
            <a:ext cx="4414909" cy="2943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303707-1457-F248-AF80-8FF691BB681F}"/>
              </a:ext>
            </a:extLst>
          </p:cNvPr>
          <p:cNvSpPr txBox="1"/>
          <p:nvPr/>
        </p:nvSpPr>
        <p:spPr>
          <a:xfrm>
            <a:off x="8287294" y="1327278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minus 5% GG adhesion (33.25)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40C42D-DB7A-5345-8E21-8C01F5A1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41093" y="1451978"/>
            <a:ext cx="4414909" cy="29432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0E6EC2-087E-6C49-8DE3-54895E5D63AD}"/>
              </a:ext>
            </a:extLst>
          </p:cNvPr>
          <p:cNvSpPr txBox="1"/>
          <p:nvPr/>
        </p:nvSpPr>
        <p:spPr>
          <a:xfrm>
            <a:off x="4791300" y="1327278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plus 5% GG adhesion (36.75)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7343F-04DC-D244-95E8-E843BA697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51317"/>
            <a:ext cx="3812708" cy="2541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7A5B1F-17B0-9042-9025-5DB225D05C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85945" y="4157239"/>
            <a:ext cx="3812707" cy="25418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CF69C0-C300-B040-8224-7651CD556E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45894" y="4211201"/>
            <a:ext cx="3812707" cy="254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5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1855-F571-A545-9F5D-97592AB7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Layer (</a:t>
            </a:r>
            <a:r>
              <a:rPr lang="en-US" dirty="0" err="1"/>
              <a:t>Ncad-C.Pcad</a:t>
            </a:r>
            <a:r>
              <a:rPr lang="en-US" dirty="0"/>
              <a:t>) at t=24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9347FB-B80D-5C48-8CC1-EA6BC1908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0074" y="2694979"/>
            <a:ext cx="2879314" cy="19195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D8AF4D-9D36-D049-AF96-CBF731CF7FD0}"/>
              </a:ext>
            </a:extLst>
          </p:cNvPr>
          <p:cNvSpPr txBox="1"/>
          <p:nvPr/>
        </p:nvSpPr>
        <p:spPr>
          <a:xfrm>
            <a:off x="655861" y="2293326"/>
            <a:ext cx="1507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control </a:t>
            </a:r>
          </a:p>
          <a:p>
            <a:pPr algn="ctr"/>
            <a:r>
              <a:rPr lang="en-US" sz="1400" dirty="0"/>
              <a:t>(GG = 35, BB = 43)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180AFB-1DC9-A345-AA0A-C7C37ED6B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92843" y="2694979"/>
            <a:ext cx="2879314" cy="1919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525CE5-6EF8-0746-B8C7-AFFFFF6A3A7C}"/>
              </a:ext>
            </a:extLst>
          </p:cNvPr>
          <p:cNvSpPr txBox="1"/>
          <p:nvPr/>
        </p:nvSpPr>
        <p:spPr>
          <a:xfrm>
            <a:off x="2965461" y="2293326"/>
            <a:ext cx="1760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plus 5% GG adhesion </a:t>
            </a:r>
          </a:p>
          <a:p>
            <a:pPr algn="ctr"/>
            <a:r>
              <a:rPr lang="en-US" sz="1400" dirty="0"/>
              <a:t>(36.75)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5F1834-8275-AE4B-8FB0-BAA6AD26F4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3647" y="2706409"/>
            <a:ext cx="2879314" cy="19195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929BAA-331D-B34B-8BEC-D925B11EEE49}"/>
              </a:ext>
            </a:extLst>
          </p:cNvPr>
          <p:cNvSpPr txBox="1"/>
          <p:nvPr/>
        </p:nvSpPr>
        <p:spPr>
          <a:xfrm>
            <a:off x="5274222" y="2293326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minus 5% GG adhesion </a:t>
            </a:r>
          </a:p>
          <a:p>
            <a:pPr algn="ctr"/>
            <a:r>
              <a:rPr lang="en-US" sz="1400" dirty="0"/>
              <a:t>(33.25)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019F8-6B23-AE41-8994-64328969D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14522"/>
            <a:ext cx="2659167" cy="1772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A9440C-F586-BC48-9728-0793ED9542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65025" y="4614522"/>
            <a:ext cx="2659165" cy="17727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340A9B-5BB3-2A45-8EE9-4D5C95986C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5760" y="4614522"/>
            <a:ext cx="2659165" cy="1772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2419C-51D9-184F-BBC8-0615D7558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564" y="4614522"/>
            <a:ext cx="2659166" cy="17727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5BE735-09C2-A847-BCC6-3EA1B233CD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85" y="4625952"/>
            <a:ext cx="2659168" cy="17727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CACF1B-C688-484B-A94E-A36DEBBA42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0269" y="2694979"/>
            <a:ext cx="2879314" cy="19195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9A0692-B6BD-3E42-9A30-52E0BF0B30E1}"/>
              </a:ext>
            </a:extLst>
          </p:cNvPr>
          <p:cNvSpPr txBox="1"/>
          <p:nvPr/>
        </p:nvSpPr>
        <p:spPr>
          <a:xfrm>
            <a:off x="10086755" y="2337979"/>
            <a:ext cx="1871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minus 5% BB adhesion </a:t>
            </a:r>
          </a:p>
          <a:p>
            <a:pPr algn="ctr"/>
            <a:r>
              <a:rPr lang="en-US" sz="1400" dirty="0"/>
              <a:t>(40.85)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A7B9F-90DF-1C44-9A42-FD2B58E039A7}"/>
              </a:ext>
            </a:extLst>
          </p:cNvPr>
          <p:cNvSpPr txBox="1"/>
          <p:nvPr/>
        </p:nvSpPr>
        <p:spPr>
          <a:xfrm>
            <a:off x="7718991" y="2291385"/>
            <a:ext cx="1728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plus 5% BB adhesion </a:t>
            </a:r>
          </a:p>
          <a:p>
            <a:pPr algn="ctr"/>
            <a:r>
              <a:rPr lang="en-US" sz="1400" dirty="0"/>
              <a:t>(45.15)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D18CD12-61E6-6B49-BB37-F23C4263C9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9008" y="2695778"/>
            <a:ext cx="2879315" cy="191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3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1B8C-E314-0447-BAF4-8F7C602A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elongation with inferred adhesions, </a:t>
            </a:r>
            <a:br>
              <a:rPr lang="en-US" dirty="0"/>
            </a:br>
            <a:r>
              <a:rPr lang="en-US" dirty="0"/>
              <a:t>constant motility (T=100)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47BA1-F9AD-B144-8E2A-908BE13CC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63385" y="1893888"/>
            <a:ext cx="4058558" cy="40585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FDB4BA-0D27-7044-8CF9-EAD71F0D2183}"/>
              </a:ext>
            </a:extLst>
          </p:cNvPr>
          <p:cNvSpPr txBox="1"/>
          <p:nvPr/>
        </p:nvSpPr>
        <p:spPr>
          <a:xfrm>
            <a:off x="1567542" y="6155646"/>
            <a:ext cx="26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activation threshold: 4500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31503F-AFAE-7447-B09D-D6E377066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99727" y="1818142"/>
            <a:ext cx="4058558" cy="4058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5979D7-7B8C-3E46-B430-B8EE67D723CE}"/>
              </a:ext>
            </a:extLst>
          </p:cNvPr>
          <p:cNvSpPr txBox="1"/>
          <p:nvPr/>
        </p:nvSpPr>
        <p:spPr>
          <a:xfrm>
            <a:off x="7395027" y="6155646"/>
            <a:ext cx="26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activation threshold: 9000</a:t>
            </a:r>
          </a:p>
        </p:txBody>
      </p:sp>
    </p:spTree>
    <p:extLst>
      <p:ext uri="{BB962C8B-B14F-4D97-AF65-F5344CB8AC3E}">
        <p14:creationId xmlns:p14="http://schemas.microsoft.com/office/powerpoint/2010/main" val="16862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171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Fig 4a.1 (control) at t=30</vt:lpstr>
      <vt:lpstr>Fig 4a.1 (HEcad-Pcad) at t=30</vt:lpstr>
      <vt:lpstr>Fig 4a.2 (HEcad-C.Pcad) at t=32</vt:lpstr>
      <vt:lpstr>2 Layer (Ecad) at t=24</vt:lpstr>
      <vt:lpstr>2 Layer (Ncad) at t=24</vt:lpstr>
      <vt:lpstr>2 Layer (Ncad-C.Pcad) at t=24</vt:lpstr>
      <vt:lpstr>elongation with inferred adhesions,  constant motility (T=100)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 4a.1 (control) at t=30</dc:title>
  <dc:creator>Sajeev Saluja</dc:creator>
  <cp:lastModifiedBy>Sajeev Saluja</cp:lastModifiedBy>
  <cp:revision>16</cp:revision>
  <dcterms:created xsi:type="dcterms:W3CDTF">2020-12-01T21:15:11Z</dcterms:created>
  <dcterms:modified xsi:type="dcterms:W3CDTF">2020-12-10T22:45:44Z</dcterms:modified>
</cp:coreProperties>
</file>